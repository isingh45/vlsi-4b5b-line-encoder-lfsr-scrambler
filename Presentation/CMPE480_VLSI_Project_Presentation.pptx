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31520" y="1325850"/>
            <a:ext cx="10515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CADCFC"/>
                </a:solidFill>
              </a:rPr>
              <a:t>CMPE 480 VLSI PROJECT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38195" y="223904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lang="en-US" sz="4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4B/5B Line Encoder with Dual 16-bit LFSR Scrambling 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Encoder · 5×1 Multiplexer · Mod-5 Counter · Dual LFSR · XOR Logic · Shift Register · Decoder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3"/>
          <p:cNvCxnSpPr/>
          <p:nvPr/>
        </p:nvCxnSpPr>
        <p:spPr>
          <a:xfrm>
            <a:off x="731520" y="4023360"/>
            <a:ext cx="2743200" cy="0"/>
          </a:xfrm>
          <a:prstGeom prst="straightConnector1">
            <a:avLst/>
          </a:prstGeom>
          <a:noFill/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"/>
          <p:cNvSpPr/>
          <p:nvPr/>
        </p:nvSpPr>
        <p:spPr>
          <a:xfrm>
            <a:off x="731520" y="41605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Schematic Design  •  Magic Layout  •  Simulation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731525" y="5166360"/>
            <a:ext cx="105156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Sukhpinder Singh</a:t>
            </a:r>
            <a:endParaRPr b="1"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Wasi Mohammed</a:t>
            </a:r>
            <a:endParaRPr b="1"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Inderpal Singh </a:t>
            </a:r>
            <a:endParaRPr b="1"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731520" y="617220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CMPE 480 • VLSI Design • Spring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365760" y="109728"/>
            <a:ext cx="11430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5760" y="365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Project Overview &amp; Block Diagram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5760" y="1097280"/>
            <a:ext cx="4206240" cy="5120640"/>
          </a:xfrm>
          <a:prstGeom prst="roundRect">
            <a:avLst>
              <a:gd fmla="val 1304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548640" y="12344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System Overview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4"/>
          <p:cNvCxnSpPr/>
          <p:nvPr/>
        </p:nvCxnSpPr>
        <p:spPr>
          <a:xfrm>
            <a:off x="548640" y="1554480"/>
            <a:ext cx="3840480" cy="0"/>
          </a:xfrm>
          <a:prstGeom prst="straightConnector1">
            <a:avLst/>
          </a:prstGeom>
          <a:noFill/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4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The system converts 4-bit parallel input data into a serialized and scrambled bitstream before reconstructing the original data at the receiver. </a:t>
            </a:r>
            <a:endParaRPr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4B/5B encoder converts 4-bit input into a transition-rich 5-bit code.</a:t>
            </a:r>
            <a:endParaRPr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Mod-5 counter drives the 5×1 multiplexer for serialization.</a:t>
            </a:r>
            <a:endParaRPr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Dual 16-bit LFSRs generate pseudo-random scrambling streams.</a:t>
            </a:r>
            <a:endParaRPr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XOR stages scramble and descramble the serial data path.</a:t>
            </a:r>
            <a:endParaRPr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Shift register reconstructs the received 5-bit symbol.</a:t>
            </a:r>
            <a:endParaRPr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4B/5B decoder recovers the original 4-bit output.</a:t>
            </a:r>
            <a:endParaRPr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All blocks operate using a shared global clock.</a:t>
            </a:r>
            <a:endParaRPr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t/>
            </a:r>
            <a:endParaRPr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VLSI Project — Pseudo-Random Stream Scrambler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" name="Google Shape;39;p4"/>
          <p:cNvPicPr preferRelativeResize="0"/>
          <p:nvPr/>
        </p:nvPicPr>
        <p:blipFill rotWithShape="1">
          <a:blip r:embed="rId3">
            <a:alphaModFix/>
          </a:blip>
          <a:srcRect b="10057" l="4384" r="6155" t="7781"/>
          <a:stretch/>
        </p:blipFill>
        <p:spPr>
          <a:xfrm>
            <a:off x="4773201" y="1554477"/>
            <a:ext cx="7418509" cy="448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365760" y="109728"/>
            <a:ext cx="11430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CONTROL · select-line generator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365760" y="365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Synchronous Mod-5 Counter — Schematic 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8412480" y="1463040"/>
            <a:ext cx="3474720" cy="4754880"/>
          </a:xfrm>
          <a:prstGeom prst="roundRect">
            <a:avLst>
              <a:gd fmla="val 157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8595360" y="16002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Function &amp; Notes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" name="Google Shape;51;p5"/>
          <p:cNvCxnSpPr/>
          <p:nvPr/>
        </p:nvCxnSpPr>
        <p:spPr>
          <a:xfrm>
            <a:off x="8595360" y="1920240"/>
            <a:ext cx="3108960" cy="0"/>
          </a:xfrm>
          <a:prstGeom prst="straightConnector1">
            <a:avLst/>
          </a:prstGeom>
          <a:noFill/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5"/>
          <p:cNvSpPr/>
          <p:nvPr/>
        </p:nvSpPr>
        <p:spPr>
          <a:xfrm>
            <a:off x="8595360" y="2011680"/>
            <a:ext cx="3108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Generates MUX select signals (S2, S1, S0).</a:t>
            </a:r>
            <a:endParaRPr sz="21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Uses synchronous CLK and CLR control logic.</a:t>
            </a:r>
            <a:endParaRPr sz="21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Cycles through states 0–4 before resetting to 0.</a:t>
            </a:r>
            <a:endParaRPr sz="21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Controls the serialization sequence of the encoded 5-bit data.</a:t>
            </a:r>
            <a:endParaRPr sz="21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VLSI Project — Pseudo-Random Stream Scrambler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400" y="1102080"/>
            <a:ext cx="8107679" cy="3362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8400" y="4616800"/>
            <a:ext cx="2107592" cy="179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365760" y="109728"/>
            <a:ext cx="11430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CONTROL · select-line generator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365760" y="365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Synchronous Mod-5 Counter — Magic Layout 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365760" y="960120"/>
            <a:ext cx="1828800" cy="320040"/>
          </a:xfrm>
          <a:prstGeom prst="roundRect">
            <a:avLst>
              <a:gd fmla="val 14286" name="adj"/>
            </a:avLst>
          </a:prstGeom>
          <a:solidFill>
            <a:srgbClr val="047857"/>
          </a:solidFill>
          <a:ln cap="flat" cmpd="sng" w="12700">
            <a:solidFill>
              <a:srgbClr val="047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365760" y="960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LAYOUT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8412480" y="1463040"/>
            <a:ext cx="3474720" cy="4754880"/>
          </a:xfrm>
          <a:prstGeom prst="roundRect">
            <a:avLst>
              <a:gd fmla="val 157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8595360" y="16002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2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Layout Notes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70;p6"/>
          <p:cNvCxnSpPr/>
          <p:nvPr/>
        </p:nvCxnSpPr>
        <p:spPr>
          <a:xfrm>
            <a:off x="8595360" y="1920240"/>
            <a:ext cx="3108960" cy="0"/>
          </a:xfrm>
          <a:prstGeom prst="straightConnector1">
            <a:avLst/>
          </a:prstGeom>
          <a:noFill/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6"/>
          <p:cNvSpPr/>
          <p:nvPr/>
        </p:nvSpPr>
        <p:spPr>
          <a:xfrm>
            <a:off x="8595360" y="2011680"/>
            <a:ext cx="3108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Three D flip-flops store counter states Q0, Q1, and Q2.</a:t>
            </a:r>
            <a:endParaRPr sz="21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Shared CLK and CLR signals synchronize and reset the counter.</a:t>
            </a:r>
            <a:endParaRPr sz="21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2×1 multiplexers control next-state selection logic.</a:t>
            </a:r>
            <a:endParaRPr sz="21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Layout verified through hierarchical Magic VLSI implementation.</a:t>
            </a:r>
            <a:endParaRPr sz="21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VLSI Project — Pseudo-Random Stream Scrambler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50" y="1955739"/>
            <a:ext cx="7866801" cy="3769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365760" y="109728"/>
            <a:ext cx="11430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CONTROL · select-line generator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365760" y="365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Synchronous Mod-5 Counter — Simulation 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365760" y="960120"/>
            <a:ext cx="1828800" cy="320040"/>
          </a:xfrm>
          <a:prstGeom prst="roundRect">
            <a:avLst>
              <a:gd fmla="val 14286" name="adj"/>
            </a:avLst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365760" y="960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SIMULATION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8412480" y="1463040"/>
            <a:ext cx="3474720" cy="4754880"/>
          </a:xfrm>
          <a:prstGeom prst="roundRect">
            <a:avLst>
              <a:gd fmla="val 157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8595360" y="16002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2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Simulation Notes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" name="Google Shape;88;p7"/>
          <p:cNvCxnSpPr/>
          <p:nvPr/>
        </p:nvCxnSpPr>
        <p:spPr>
          <a:xfrm>
            <a:off x="8595360" y="1920240"/>
            <a:ext cx="3108960" cy="0"/>
          </a:xfrm>
          <a:prstGeom prst="straightConnector1">
            <a:avLst/>
          </a:prstGeom>
          <a:noFill/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7"/>
          <p:cNvSpPr/>
          <p:nvPr/>
        </p:nvSpPr>
        <p:spPr>
          <a:xfrm>
            <a:off x="8595360" y="2011680"/>
            <a:ext cx="3108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Waveforms verify synchronous Mod-5 counting behavior.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Counter cycles through states: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○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000 → 001 → 010 → 011 → 100 → 000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CLK synchronizes all state transitions.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Reset logic correctly returns the counter to 000.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VLSI Project — </a:t>
            </a:r>
            <a:r>
              <a:rPr i="1"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MOD 5 COUNTER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177425"/>
            <a:ext cx="8195974" cy="217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50" y="1463050"/>
            <a:ext cx="8107674" cy="231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8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8"/>
          <p:cNvSpPr/>
          <p:nvPr/>
        </p:nvSpPr>
        <p:spPr>
          <a:xfrm>
            <a:off x="365760" y="109728"/>
            <a:ext cx="11430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DATAPATH · input-side encoder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365760" y="365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Encoder (4 → 5) — Schematic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365760" y="960120"/>
            <a:ext cx="1828800" cy="320040"/>
          </a:xfrm>
          <a:prstGeom prst="roundRect">
            <a:avLst>
              <a:gd fmla="val 14286" name="adj"/>
            </a:avLst>
          </a:prstGeom>
          <a:solidFill>
            <a:srgbClr val="1E40AF"/>
          </a:solidFill>
          <a:ln cap="flat" cmpd="sng" w="12700">
            <a:solidFill>
              <a:srgbClr val="1E40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365760" y="960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SCHEMATIC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8412480" y="1463040"/>
            <a:ext cx="3474720" cy="4754880"/>
          </a:xfrm>
          <a:prstGeom prst="roundRect">
            <a:avLst>
              <a:gd fmla="val 157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8595360" y="16002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2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Function &amp; Notes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8"/>
          <p:cNvCxnSpPr/>
          <p:nvPr/>
        </p:nvCxnSpPr>
        <p:spPr>
          <a:xfrm>
            <a:off x="8595360" y="1920240"/>
            <a:ext cx="3108960" cy="0"/>
          </a:xfrm>
          <a:prstGeom prst="straightConnector1">
            <a:avLst/>
          </a:prstGeom>
          <a:noFill/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8"/>
          <p:cNvSpPr/>
          <p:nvPr/>
        </p:nvSpPr>
        <p:spPr>
          <a:xfrm>
            <a:off x="8595360" y="2011680"/>
            <a:ext cx="3108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Accepts 4-bit parallel input data (A, B, C, D).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Generates 5-bit encoded outputs (Y4–Y0) using 4B/5B logic.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Improves transition density and reduces DC imbalance.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Encoded outputs are forwarded to the 5×1 MUX for serialization.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VLSI Project — Pseudo-Random Stream Scrambler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50" y="1533575"/>
            <a:ext cx="6331078" cy="4754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9575" y="3658500"/>
            <a:ext cx="1690500" cy="1603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365760" y="109728"/>
            <a:ext cx="11430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DATAPATH · input-side encoder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365760" y="365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Encoder (4 → 5) — Magic Layout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365760" y="960120"/>
            <a:ext cx="1828800" cy="320040"/>
          </a:xfrm>
          <a:prstGeom prst="roundRect">
            <a:avLst>
              <a:gd fmla="val 14286" name="adj"/>
            </a:avLst>
          </a:prstGeom>
          <a:solidFill>
            <a:srgbClr val="047857"/>
          </a:solidFill>
          <a:ln cap="flat" cmpd="sng" w="12700">
            <a:solidFill>
              <a:srgbClr val="047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"/>
          <p:cNvSpPr/>
          <p:nvPr/>
        </p:nvSpPr>
        <p:spPr>
          <a:xfrm>
            <a:off x="365760" y="960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LAYOUT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8412480" y="1463040"/>
            <a:ext cx="3474720" cy="4754880"/>
          </a:xfrm>
          <a:prstGeom prst="roundRect">
            <a:avLst>
              <a:gd fmla="val 157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8595360" y="16002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Layout Notes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9"/>
          <p:cNvCxnSpPr/>
          <p:nvPr/>
        </p:nvCxnSpPr>
        <p:spPr>
          <a:xfrm>
            <a:off x="8595360" y="1920240"/>
            <a:ext cx="3108960" cy="0"/>
          </a:xfrm>
          <a:prstGeom prst="straightConnector1">
            <a:avLst/>
          </a:prstGeom>
          <a:noFill/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9"/>
          <p:cNvSpPr/>
          <p:nvPr/>
        </p:nvSpPr>
        <p:spPr>
          <a:xfrm>
            <a:off x="8595360" y="2011680"/>
            <a:ext cx="3108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Magic layout implements the 4B/5B combinational encoder logic.</a:t>
            </a:r>
            <a:endParaRPr sz="17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PMOS and NMOS transistor networks generate outputs Y4–Y0.</a:t>
            </a:r>
            <a:endParaRPr sz="17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Metal routing connects parallel inputs to encoding logic paths.</a:t>
            </a:r>
            <a:endParaRPr sz="17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Hierarchical layout structure improves modular design organization.</a:t>
            </a:r>
            <a:endParaRPr sz="17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Layout verified through Magic VLSI implementation and simulation.</a:t>
            </a:r>
            <a:br>
              <a:rPr b="0" i="0" lang="en-US" sz="17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VLSI Project — Pseudo-Random Stream Scrambler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50" y="1783088"/>
            <a:ext cx="8107676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0"/>
          <p:cNvSpPr/>
          <p:nvPr/>
        </p:nvSpPr>
        <p:spPr>
          <a:xfrm>
            <a:off x="365760" y="109728"/>
            <a:ext cx="11430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DATAPATH · input-side encoder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365760" y="365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Encoder (4 → 5) — Simulation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365760" y="960120"/>
            <a:ext cx="1828800" cy="320040"/>
          </a:xfrm>
          <a:prstGeom prst="roundRect">
            <a:avLst>
              <a:gd fmla="val 14286" name="adj"/>
            </a:avLst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"/>
          <p:cNvSpPr/>
          <p:nvPr/>
        </p:nvSpPr>
        <p:spPr>
          <a:xfrm>
            <a:off x="365760" y="960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SIMULATION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8412480" y="1463040"/>
            <a:ext cx="3474720" cy="4754880"/>
          </a:xfrm>
          <a:prstGeom prst="roundRect">
            <a:avLst>
              <a:gd fmla="val 157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"/>
          <p:cNvSpPr/>
          <p:nvPr/>
        </p:nvSpPr>
        <p:spPr>
          <a:xfrm>
            <a:off x="8595360" y="16002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Simulation Notes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10"/>
          <p:cNvCxnSpPr/>
          <p:nvPr/>
        </p:nvCxnSpPr>
        <p:spPr>
          <a:xfrm>
            <a:off x="8595360" y="1920240"/>
            <a:ext cx="3108960" cy="0"/>
          </a:xfrm>
          <a:prstGeom prst="straightConnector1">
            <a:avLst/>
          </a:prstGeom>
          <a:noFill/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10"/>
          <p:cNvSpPr/>
          <p:nvPr/>
        </p:nvSpPr>
        <p:spPr>
          <a:xfrm>
            <a:off x="8595360" y="2011680"/>
            <a:ext cx="3108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Encoder supports 16 possible 4-bit input combinations.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input cases were tested using simulation command files.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Waveforms verified correct 4B/5B encoded outputs for each case.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Simulation confirmed proper encoder functionality across all inputs.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VLSI Project — Pseudo-Random Stream Scrambler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32549"/>
            <a:ext cx="8107674" cy="207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854550"/>
            <a:ext cx="8260073" cy="217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1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1"/>
          <p:cNvSpPr/>
          <p:nvPr/>
        </p:nvSpPr>
        <p:spPr>
          <a:xfrm>
            <a:off x="365760" y="109728"/>
            <a:ext cx="11430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DATAPATH · serializer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1"/>
          <p:cNvSpPr/>
          <p:nvPr/>
        </p:nvSpPr>
        <p:spPr>
          <a:xfrm>
            <a:off x="365760" y="365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5×1 MUX </a:t>
            </a: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— Schematic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1"/>
          <p:cNvSpPr/>
          <p:nvPr/>
        </p:nvSpPr>
        <p:spPr>
          <a:xfrm>
            <a:off x="365760" y="960120"/>
            <a:ext cx="1828800" cy="320040"/>
          </a:xfrm>
          <a:prstGeom prst="roundRect">
            <a:avLst>
              <a:gd fmla="val 14286" name="adj"/>
            </a:avLst>
          </a:prstGeom>
          <a:solidFill>
            <a:srgbClr val="1E40AF"/>
          </a:solidFill>
          <a:ln cap="flat" cmpd="sng" w="12700">
            <a:solidFill>
              <a:srgbClr val="1E40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1"/>
          <p:cNvSpPr/>
          <p:nvPr/>
        </p:nvSpPr>
        <p:spPr>
          <a:xfrm>
            <a:off x="365760" y="960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SCHEMATIC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8412480" y="1463040"/>
            <a:ext cx="3474720" cy="4754880"/>
          </a:xfrm>
          <a:prstGeom prst="roundRect">
            <a:avLst>
              <a:gd fmla="val 157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"/>
          <p:cNvSpPr/>
          <p:nvPr/>
        </p:nvSpPr>
        <p:spPr>
          <a:xfrm>
            <a:off x="8595360" y="16002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Function &amp; Notes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11"/>
          <p:cNvCxnSpPr/>
          <p:nvPr/>
        </p:nvCxnSpPr>
        <p:spPr>
          <a:xfrm>
            <a:off x="8595360" y="1920240"/>
            <a:ext cx="3108960" cy="0"/>
          </a:xfrm>
          <a:prstGeom prst="straightConnector1">
            <a:avLst/>
          </a:prstGeom>
          <a:noFill/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11"/>
          <p:cNvSpPr/>
          <p:nvPr/>
        </p:nvSpPr>
        <p:spPr>
          <a:xfrm>
            <a:off x="8595360" y="2011680"/>
            <a:ext cx="3108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Receives encoded inputs D4–D0 from the 4B/5B encoder.</a:t>
            </a:r>
            <a:endParaRPr sz="19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Select lines S2, S1, and S0 are driven by the synchronous Mod-5 counter.</a:t>
            </a:r>
            <a:endParaRPr sz="19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Serial output Q transmits one encoded bit per clock cycle.</a:t>
            </a:r>
            <a:endParaRPr sz="19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Converts the 5-bit parallel word into serialized data for the XOR scrambling stage.</a:t>
            </a:r>
            <a:endParaRPr sz="19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VLSI Project — Pseudo-Random Stream Scrambler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32560"/>
            <a:ext cx="6596096" cy="4980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8025" y="1325863"/>
            <a:ext cx="1809750" cy="503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2"/>
          <p:cNvSpPr/>
          <p:nvPr/>
        </p:nvSpPr>
        <p:spPr>
          <a:xfrm>
            <a:off x="365760" y="109728"/>
            <a:ext cx="11430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DATAPATH · serializer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2"/>
          <p:cNvSpPr/>
          <p:nvPr/>
        </p:nvSpPr>
        <p:spPr>
          <a:xfrm>
            <a:off x="365760" y="365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5×1 MUX </a:t>
            </a: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— Magic Layout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2"/>
          <p:cNvSpPr/>
          <p:nvPr/>
        </p:nvSpPr>
        <p:spPr>
          <a:xfrm>
            <a:off x="365760" y="960120"/>
            <a:ext cx="1828800" cy="320040"/>
          </a:xfrm>
          <a:prstGeom prst="roundRect">
            <a:avLst>
              <a:gd fmla="val 14286" name="adj"/>
            </a:avLst>
          </a:prstGeom>
          <a:solidFill>
            <a:srgbClr val="047857"/>
          </a:solidFill>
          <a:ln cap="flat" cmpd="sng" w="12700">
            <a:solidFill>
              <a:srgbClr val="047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2"/>
          <p:cNvSpPr/>
          <p:nvPr/>
        </p:nvSpPr>
        <p:spPr>
          <a:xfrm>
            <a:off x="365760" y="960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LAYOUT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8412480" y="1463040"/>
            <a:ext cx="3474720" cy="4754880"/>
          </a:xfrm>
          <a:prstGeom prst="roundRect">
            <a:avLst>
              <a:gd fmla="val 157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"/>
          <p:cNvSpPr/>
          <p:nvPr/>
        </p:nvSpPr>
        <p:spPr>
          <a:xfrm>
            <a:off x="8595360" y="16002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Layout Notes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12"/>
          <p:cNvCxnSpPr/>
          <p:nvPr/>
        </p:nvCxnSpPr>
        <p:spPr>
          <a:xfrm>
            <a:off x="8595360" y="1920240"/>
            <a:ext cx="3108960" cy="0"/>
          </a:xfrm>
          <a:prstGeom prst="straightConnector1">
            <a:avLst/>
          </a:prstGeom>
          <a:noFill/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12"/>
          <p:cNvSpPr/>
          <p:nvPr/>
        </p:nvSpPr>
        <p:spPr>
          <a:xfrm>
            <a:off x="8595360" y="2011680"/>
            <a:ext cx="3108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Inverters generate complementary select-line signals for S0, S1, and S2.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Five AND gates implement selection logic for inputs D0–D4.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one data path is enabled during each counter state.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logic combines the selected path into the final serial output Q.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Layout routes serialized encoder data toward the scrambling stage.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VLSI Project — Pseudo-Random Stream Scrambler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125" y="2018335"/>
            <a:ext cx="8107679" cy="3808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3"/>
          <p:cNvSpPr/>
          <p:nvPr/>
        </p:nvSpPr>
        <p:spPr>
          <a:xfrm>
            <a:off x="365760" y="109728"/>
            <a:ext cx="11430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DATAPATH · serializer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365760" y="365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MUX 5 × 1 — Simulation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365760" y="960120"/>
            <a:ext cx="1828800" cy="320040"/>
          </a:xfrm>
          <a:prstGeom prst="roundRect">
            <a:avLst>
              <a:gd fmla="val 14286" name="adj"/>
            </a:avLst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3"/>
          <p:cNvSpPr/>
          <p:nvPr/>
        </p:nvSpPr>
        <p:spPr>
          <a:xfrm>
            <a:off x="365760" y="960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SIMULATION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8412480" y="1463040"/>
            <a:ext cx="3474720" cy="4754880"/>
          </a:xfrm>
          <a:prstGeom prst="roundRect">
            <a:avLst>
              <a:gd fmla="val 157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3"/>
          <p:cNvSpPr/>
          <p:nvPr/>
        </p:nvSpPr>
        <p:spPr>
          <a:xfrm>
            <a:off x="8595360" y="16002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2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Simulation Notes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p13"/>
          <p:cNvCxnSpPr/>
          <p:nvPr/>
        </p:nvCxnSpPr>
        <p:spPr>
          <a:xfrm>
            <a:off x="8595360" y="1920240"/>
            <a:ext cx="3108960" cy="0"/>
          </a:xfrm>
          <a:prstGeom prst="straightConnector1">
            <a:avLst/>
          </a:prstGeom>
          <a:noFill/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13"/>
          <p:cNvSpPr/>
          <p:nvPr/>
        </p:nvSpPr>
        <p:spPr>
          <a:xfrm>
            <a:off x="8595360" y="2011680"/>
            <a:ext cx="3108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Functional verification against the expected truth table.</a:t>
            </a:r>
            <a:endParaRPr sz="21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Stimulus applied to all MUX input and select pins.</a:t>
            </a:r>
            <a:endParaRPr sz="21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Outputs match the schematic specification.</a:t>
            </a:r>
            <a:endParaRPr sz="21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Waveforms captured using IRSIM simulation.</a:t>
            </a:r>
            <a:endParaRPr sz="21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2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VLSI Project — Pseudo-Random Stream Scrambler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11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32549"/>
            <a:ext cx="8107674" cy="205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915574"/>
            <a:ext cx="8107683" cy="1916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4"/>
          <p:cNvSpPr/>
          <p:nvPr/>
        </p:nvSpPr>
        <p:spPr>
          <a:xfrm>
            <a:off x="365760" y="109728"/>
            <a:ext cx="11430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KEYSTREAM · pseudo-random generator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365760" y="365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LFSR-1 (16-bit) — Schematic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365760" y="960120"/>
            <a:ext cx="1828800" cy="320040"/>
          </a:xfrm>
          <a:prstGeom prst="roundRect">
            <a:avLst>
              <a:gd fmla="val 14286" name="adj"/>
            </a:avLst>
          </a:prstGeom>
          <a:solidFill>
            <a:srgbClr val="1E40AF"/>
          </a:solidFill>
          <a:ln cap="flat" cmpd="sng" w="12700">
            <a:solidFill>
              <a:srgbClr val="1E40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4"/>
          <p:cNvSpPr/>
          <p:nvPr/>
        </p:nvSpPr>
        <p:spPr>
          <a:xfrm>
            <a:off x="365760" y="960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SCHEMATIC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4"/>
          <p:cNvSpPr/>
          <p:nvPr/>
        </p:nvSpPr>
        <p:spPr>
          <a:xfrm>
            <a:off x="8412480" y="1463040"/>
            <a:ext cx="3474720" cy="4754880"/>
          </a:xfrm>
          <a:prstGeom prst="roundRect">
            <a:avLst>
              <a:gd fmla="val 157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4"/>
          <p:cNvSpPr/>
          <p:nvPr/>
        </p:nvSpPr>
        <p:spPr>
          <a:xfrm>
            <a:off x="8595360" y="16002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Function &amp; Notes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14"/>
          <p:cNvCxnSpPr/>
          <p:nvPr/>
        </p:nvCxnSpPr>
        <p:spPr>
          <a:xfrm>
            <a:off x="8595360" y="1920240"/>
            <a:ext cx="3108960" cy="0"/>
          </a:xfrm>
          <a:prstGeom prst="straightConnector1">
            <a:avLst/>
          </a:prstGeom>
          <a:noFill/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14"/>
          <p:cNvSpPr/>
          <p:nvPr/>
        </p:nvSpPr>
        <p:spPr>
          <a:xfrm>
            <a:off x="8595360" y="2011680"/>
            <a:ext cx="3108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16-stage shift register chain built using D flip-flops.</a:t>
            </a:r>
            <a:endParaRPr sz="20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XNOR feedback taps generate the pseudo-random keystream.</a:t>
            </a:r>
            <a:endParaRPr sz="20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Used as the first scrambling source for the XOR stage.</a:t>
            </a:r>
            <a:endParaRPr sz="20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Operates synchronously with the shared global clock.</a:t>
            </a:r>
            <a:endParaRPr sz="20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VLSI Project — Pseudo-Random Stream Scrambler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4"/>
          <p:cNvSpPr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12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824033"/>
            <a:ext cx="8412475" cy="2197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5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5"/>
          <p:cNvSpPr/>
          <p:nvPr/>
        </p:nvSpPr>
        <p:spPr>
          <a:xfrm>
            <a:off x="365760" y="109728"/>
            <a:ext cx="11430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KEYSTREAM · pseudo-random generator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5"/>
          <p:cNvSpPr/>
          <p:nvPr/>
        </p:nvSpPr>
        <p:spPr>
          <a:xfrm>
            <a:off x="365760" y="365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LFSR-1 (16-bit) — Magic Layout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5"/>
          <p:cNvSpPr/>
          <p:nvPr/>
        </p:nvSpPr>
        <p:spPr>
          <a:xfrm>
            <a:off x="365760" y="960120"/>
            <a:ext cx="1828800" cy="320040"/>
          </a:xfrm>
          <a:prstGeom prst="roundRect">
            <a:avLst>
              <a:gd fmla="val 14286" name="adj"/>
            </a:avLst>
          </a:prstGeom>
          <a:solidFill>
            <a:srgbClr val="047857"/>
          </a:solidFill>
          <a:ln cap="flat" cmpd="sng" w="12700">
            <a:solidFill>
              <a:srgbClr val="047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5"/>
          <p:cNvSpPr/>
          <p:nvPr/>
        </p:nvSpPr>
        <p:spPr>
          <a:xfrm>
            <a:off x="365760" y="960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LAYOUT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5"/>
          <p:cNvSpPr/>
          <p:nvPr/>
        </p:nvSpPr>
        <p:spPr>
          <a:xfrm>
            <a:off x="365760" y="406908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8412480" y="1463040"/>
            <a:ext cx="3474720" cy="4754880"/>
          </a:xfrm>
          <a:prstGeom prst="roundRect">
            <a:avLst>
              <a:gd fmla="val 157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5"/>
          <p:cNvSpPr/>
          <p:nvPr/>
        </p:nvSpPr>
        <p:spPr>
          <a:xfrm>
            <a:off x="8595360" y="16002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Layout Notes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15"/>
          <p:cNvCxnSpPr/>
          <p:nvPr/>
        </p:nvCxnSpPr>
        <p:spPr>
          <a:xfrm>
            <a:off x="8595360" y="1920240"/>
            <a:ext cx="3108960" cy="0"/>
          </a:xfrm>
          <a:prstGeom prst="straightConnector1">
            <a:avLst/>
          </a:prstGeom>
          <a:noFill/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15"/>
          <p:cNvSpPr/>
          <p:nvPr/>
        </p:nvSpPr>
        <p:spPr>
          <a:xfrm>
            <a:off x="8595360" y="2011680"/>
            <a:ext cx="3108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Magic layout implements the physical 16-stage LFSR structure.</a:t>
            </a:r>
            <a:endParaRPr sz="17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Repeated transistor cells form the cascaded flip-flop chain.</a:t>
            </a:r>
            <a:endParaRPr sz="17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Metal routing distributes feedback connections across the register stages.</a:t>
            </a:r>
            <a:endParaRPr sz="17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Compact layout organization improves routing efficiency and modularity.</a:t>
            </a:r>
            <a:endParaRPr sz="17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Layout verified using Magic VLSI design-rule validation.</a:t>
            </a:r>
            <a:endParaRPr sz="17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7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5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VLSI Project — Pseudo-Random Stream Scrambler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5"/>
          <p:cNvSpPr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13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15" title="Screenshot 2026-05-09 1511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800" y="3369525"/>
            <a:ext cx="7489751" cy="695025"/>
          </a:xfrm>
          <a:prstGeom prst="rect">
            <a:avLst/>
          </a:prstGeom>
          <a:solidFill>
            <a:srgbClr val="F8FAFC"/>
          </a:solidFill>
          <a:ln cap="flat" cmpd="sng" w="19050">
            <a:solidFill>
              <a:srgbClr val="047857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6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6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6"/>
          <p:cNvSpPr/>
          <p:nvPr/>
        </p:nvSpPr>
        <p:spPr>
          <a:xfrm>
            <a:off x="365760" y="109728"/>
            <a:ext cx="11430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KEYSTREAM · pseudo-random generator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6"/>
          <p:cNvSpPr/>
          <p:nvPr/>
        </p:nvSpPr>
        <p:spPr>
          <a:xfrm>
            <a:off x="365760" y="365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LFSR-1 (16-bit) — Simulation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365760" y="960120"/>
            <a:ext cx="1828800" cy="320040"/>
          </a:xfrm>
          <a:prstGeom prst="roundRect">
            <a:avLst>
              <a:gd fmla="val 14286" name="adj"/>
            </a:avLst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6"/>
          <p:cNvSpPr/>
          <p:nvPr/>
        </p:nvSpPr>
        <p:spPr>
          <a:xfrm>
            <a:off x="365760" y="960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SIMULATION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3886200" y="3474720"/>
            <a:ext cx="82296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6"/>
          <p:cNvSpPr/>
          <p:nvPr/>
        </p:nvSpPr>
        <p:spPr>
          <a:xfrm>
            <a:off x="4133088" y="3584448"/>
            <a:ext cx="329184" cy="292608"/>
          </a:xfrm>
          <a:prstGeom prst="ellipse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6"/>
          <p:cNvSpPr/>
          <p:nvPr/>
        </p:nvSpPr>
        <p:spPr>
          <a:xfrm>
            <a:off x="365760" y="406908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Waveform / Functional Simulation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365760" y="438912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Insert image here (right-click → Change Picture)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6"/>
          <p:cNvSpPr/>
          <p:nvPr/>
        </p:nvSpPr>
        <p:spPr>
          <a:xfrm>
            <a:off x="8412480" y="1463040"/>
            <a:ext cx="3474720" cy="4754880"/>
          </a:xfrm>
          <a:prstGeom prst="roundRect">
            <a:avLst>
              <a:gd fmla="val 157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6"/>
          <p:cNvSpPr/>
          <p:nvPr/>
        </p:nvSpPr>
        <p:spPr>
          <a:xfrm>
            <a:off x="8595360" y="16002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2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Simulation Notes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p16"/>
          <p:cNvCxnSpPr/>
          <p:nvPr/>
        </p:nvCxnSpPr>
        <p:spPr>
          <a:xfrm>
            <a:off x="8595360" y="1920240"/>
            <a:ext cx="3108960" cy="0"/>
          </a:xfrm>
          <a:prstGeom prst="straightConnector1">
            <a:avLst/>
          </a:prstGeom>
          <a:noFill/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" name="Google Shape;261;p16"/>
          <p:cNvSpPr/>
          <p:nvPr/>
        </p:nvSpPr>
        <p:spPr>
          <a:xfrm>
            <a:off x="8595360" y="2011680"/>
            <a:ext cx="3108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Waveforms verify sequential shifting across the 16-bit LFSR stages.</a:t>
            </a:r>
            <a:endParaRPr sz="15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Each clock pulse propagates the register state through the flip-flop chain.</a:t>
            </a:r>
            <a:endParaRPr sz="15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XNOR feedback logic generates the pseudo-random keystream sequence.</a:t>
            </a:r>
            <a:endParaRPr sz="15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Output transitions demonstrate synchronized operation under the shared CLK signal.</a:t>
            </a:r>
            <a:endParaRPr sz="15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IRSIM waveforms confirm proper LFSR feedback and stage propagation behavior.</a:t>
            </a:r>
            <a:br>
              <a:rPr b="0" i="0" lang="en-US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6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VLSI Project — Pseudo-Random Stream Scrambler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6"/>
          <p:cNvSpPr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14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4" name="Google Shape;264;p16" title="e0cd251b-5569-425a-9155-692d5f1c12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700" y="1371600"/>
            <a:ext cx="7606518" cy="4849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7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7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7"/>
          <p:cNvSpPr/>
          <p:nvPr/>
        </p:nvSpPr>
        <p:spPr>
          <a:xfrm>
            <a:off x="365760" y="109728"/>
            <a:ext cx="11430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KEYSTREAM · pseudo-random generator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7"/>
          <p:cNvSpPr/>
          <p:nvPr/>
        </p:nvSpPr>
        <p:spPr>
          <a:xfrm>
            <a:off x="365760" y="365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LFSR-2 (16-bit) — Schematic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7"/>
          <p:cNvSpPr/>
          <p:nvPr/>
        </p:nvSpPr>
        <p:spPr>
          <a:xfrm>
            <a:off x="365760" y="960120"/>
            <a:ext cx="1828800" cy="320040"/>
          </a:xfrm>
          <a:prstGeom prst="roundRect">
            <a:avLst>
              <a:gd fmla="val 14286" name="adj"/>
            </a:avLst>
          </a:prstGeom>
          <a:solidFill>
            <a:srgbClr val="1E40AF"/>
          </a:solidFill>
          <a:ln cap="flat" cmpd="sng" w="12700">
            <a:solidFill>
              <a:srgbClr val="1E40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7"/>
          <p:cNvSpPr/>
          <p:nvPr/>
        </p:nvSpPr>
        <p:spPr>
          <a:xfrm>
            <a:off x="365760" y="960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SCHEMATIC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7"/>
          <p:cNvSpPr/>
          <p:nvPr/>
        </p:nvSpPr>
        <p:spPr>
          <a:xfrm>
            <a:off x="8412480" y="1463040"/>
            <a:ext cx="3474720" cy="4754880"/>
          </a:xfrm>
          <a:prstGeom prst="roundRect">
            <a:avLst>
              <a:gd fmla="val 157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7"/>
          <p:cNvSpPr/>
          <p:nvPr/>
        </p:nvSpPr>
        <p:spPr>
          <a:xfrm>
            <a:off x="8595360" y="16002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Function &amp; Notes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p17"/>
          <p:cNvCxnSpPr/>
          <p:nvPr/>
        </p:nvCxnSpPr>
        <p:spPr>
          <a:xfrm>
            <a:off x="8595360" y="1920240"/>
            <a:ext cx="3108960" cy="0"/>
          </a:xfrm>
          <a:prstGeom prst="straightConnector1">
            <a:avLst/>
          </a:prstGeom>
          <a:noFill/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p17"/>
          <p:cNvSpPr/>
          <p:nvPr/>
        </p:nvSpPr>
        <p:spPr>
          <a:xfrm>
            <a:off x="8595360" y="2011680"/>
            <a:ext cx="3108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Independent 16-bit LFSR using a separate feedback network.</a:t>
            </a:r>
            <a:endParaRPr sz="17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Different seed and feedback taps produce a de-correlated keystream.</a:t>
            </a:r>
            <a:endParaRPr sz="17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Dual-LFSR structure improves scrambling diversity across the serial data stream.</a:t>
            </a:r>
            <a:endParaRPr sz="17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Provides the second pseudo-random input for the XOR scrambling stage.</a:t>
            </a:r>
            <a:endParaRPr sz="17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Operates synchronously with the shared system clock.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VLSI Project — Pseudo-Random Stream Scrambler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15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" name="Google Shape;2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824033"/>
            <a:ext cx="8412475" cy="2197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8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8"/>
          <p:cNvSpPr/>
          <p:nvPr/>
        </p:nvSpPr>
        <p:spPr>
          <a:xfrm>
            <a:off x="365760" y="109728"/>
            <a:ext cx="11430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KEYSTREAM · pseudo-random generator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8"/>
          <p:cNvSpPr/>
          <p:nvPr/>
        </p:nvSpPr>
        <p:spPr>
          <a:xfrm>
            <a:off x="365760" y="365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LFSR-2 (16-bit) — Magic Layout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8"/>
          <p:cNvSpPr/>
          <p:nvPr/>
        </p:nvSpPr>
        <p:spPr>
          <a:xfrm>
            <a:off x="365760" y="960120"/>
            <a:ext cx="1828800" cy="320040"/>
          </a:xfrm>
          <a:prstGeom prst="roundRect">
            <a:avLst>
              <a:gd fmla="val 14286" name="adj"/>
            </a:avLst>
          </a:prstGeom>
          <a:solidFill>
            <a:srgbClr val="047857"/>
          </a:solidFill>
          <a:ln cap="flat" cmpd="sng" w="12700">
            <a:solidFill>
              <a:srgbClr val="047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8"/>
          <p:cNvSpPr/>
          <p:nvPr/>
        </p:nvSpPr>
        <p:spPr>
          <a:xfrm>
            <a:off x="365760" y="960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LAYOUT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8"/>
          <p:cNvSpPr/>
          <p:nvPr/>
        </p:nvSpPr>
        <p:spPr>
          <a:xfrm>
            <a:off x="8412480" y="1463040"/>
            <a:ext cx="3474720" cy="4754880"/>
          </a:xfrm>
          <a:prstGeom prst="roundRect">
            <a:avLst>
              <a:gd fmla="val 157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8"/>
          <p:cNvSpPr/>
          <p:nvPr/>
        </p:nvSpPr>
        <p:spPr>
          <a:xfrm>
            <a:off x="8595360" y="16002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2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Layout Notes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" name="Google Shape;296;p18"/>
          <p:cNvCxnSpPr/>
          <p:nvPr/>
        </p:nvCxnSpPr>
        <p:spPr>
          <a:xfrm>
            <a:off x="8595360" y="1920240"/>
            <a:ext cx="3108960" cy="0"/>
          </a:xfrm>
          <a:prstGeom prst="straightConnector1">
            <a:avLst/>
          </a:prstGeom>
          <a:noFill/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" name="Google Shape;297;p18"/>
          <p:cNvSpPr/>
          <p:nvPr/>
        </p:nvSpPr>
        <p:spPr>
          <a:xfrm>
            <a:off x="8595360" y="2011680"/>
            <a:ext cx="3108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Layout implements the second 16-stage LFSR feedback structure.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Repeated flip-flop cells create the secondary keystream generator chain.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Independent feedback routing supports a de-correlated scrambling sequence.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Compact transistor organization maintains modular routing across all stages.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Magic VLSI verification confirmed proper physical layout implementation.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8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VLSI Project — Pseudo-Random Stream Scrambler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8"/>
          <p:cNvSpPr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16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18" title="Screenshot 2026-05-09 1511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50" y="3323115"/>
            <a:ext cx="7737923" cy="741435"/>
          </a:xfrm>
          <a:prstGeom prst="rect">
            <a:avLst/>
          </a:prstGeom>
          <a:solidFill>
            <a:srgbClr val="F8FAFC"/>
          </a:solidFill>
          <a:ln cap="flat" cmpd="sng" w="19050">
            <a:solidFill>
              <a:srgbClr val="047857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9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9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9"/>
          <p:cNvSpPr/>
          <p:nvPr/>
        </p:nvSpPr>
        <p:spPr>
          <a:xfrm>
            <a:off x="365760" y="109728"/>
            <a:ext cx="11430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KEYSTREAM · pseudo-random generator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9"/>
          <p:cNvSpPr/>
          <p:nvPr/>
        </p:nvSpPr>
        <p:spPr>
          <a:xfrm>
            <a:off x="365760" y="365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LFSR-2 (16-bit) — Simulation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9"/>
          <p:cNvSpPr/>
          <p:nvPr/>
        </p:nvSpPr>
        <p:spPr>
          <a:xfrm>
            <a:off x="365760" y="960120"/>
            <a:ext cx="1828800" cy="320040"/>
          </a:xfrm>
          <a:prstGeom prst="roundRect">
            <a:avLst>
              <a:gd fmla="val 14286" name="adj"/>
            </a:avLst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9"/>
          <p:cNvSpPr/>
          <p:nvPr/>
        </p:nvSpPr>
        <p:spPr>
          <a:xfrm>
            <a:off x="365760" y="960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SIMULATION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9"/>
          <p:cNvSpPr/>
          <p:nvPr/>
        </p:nvSpPr>
        <p:spPr>
          <a:xfrm>
            <a:off x="8412480" y="1463040"/>
            <a:ext cx="3474720" cy="4754880"/>
          </a:xfrm>
          <a:prstGeom prst="roundRect">
            <a:avLst>
              <a:gd fmla="val 157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9"/>
          <p:cNvSpPr/>
          <p:nvPr/>
        </p:nvSpPr>
        <p:spPr>
          <a:xfrm>
            <a:off x="8595360" y="16002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Simulation Notes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" name="Google Shape;314;p19"/>
          <p:cNvCxnSpPr/>
          <p:nvPr/>
        </p:nvCxnSpPr>
        <p:spPr>
          <a:xfrm>
            <a:off x="8595360" y="1920240"/>
            <a:ext cx="3108960" cy="0"/>
          </a:xfrm>
          <a:prstGeom prst="straightConnector1">
            <a:avLst/>
          </a:prstGeom>
          <a:noFill/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19"/>
          <p:cNvSpPr/>
          <p:nvPr/>
        </p:nvSpPr>
        <p:spPr>
          <a:xfrm>
            <a:off x="8595360" y="2011680"/>
            <a:ext cx="3108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Waveforms verify synchronized shifting across the second 16-bit LFSR chain.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Independent feedback taps generate a separate pseudo-random keystream sequence.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Clock transitions propagate data sequentially through all register stages.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Simulation confirms de-correlated output behavior relative to LFSR-1.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IRSIM waveforms validate proper feedback propagation and keystream generation.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9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VLSI Project — Pseudo-Random Stream Scrambler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9"/>
          <p:cNvSpPr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17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8" name="Google Shape;318;p19" title="e0cd251b-5569-425a-9155-692d5f1c12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700" y="1371600"/>
            <a:ext cx="7606518" cy="4849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0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0"/>
          <p:cNvSpPr/>
          <p:nvPr/>
        </p:nvSpPr>
        <p:spPr>
          <a:xfrm>
            <a:off x="365760" y="109728"/>
            <a:ext cx="11430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DATAPATH · stream-cipher 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0"/>
          <p:cNvSpPr/>
          <p:nvPr/>
        </p:nvSpPr>
        <p:spPr>
          <a:xfrm>
            <a:off x="365760" y="365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XOR Scrambler (3 gates) — Schematic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0"/>
          <p:cNvSpPr/>
          <p:nvPr/>
        </p:nvSpPr>
        <p:spPr>
          <a:xfrm>
            <a:off x="365760" y="960120"/>
            <a:ext cx="1828800" cy="320040"/>
          </a:xfrm>
          <a:prstGeom prst="roundRect">
            <a:avLst>
              <a:gd fmla="val 14286" name="adj"/>
            </a:avLst>
          </a:prstGeom>
          <a:solidFill>
            <a:srgbClr val="1E40AF"/>
          </a:solidFill>
          <a:ln cap="flat" cmpd="sng" w="12700">
            <a:solidFill>
              <a:srgbClr val="1E40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0"/>
          <p:cNvSpPr/>
          <p:nvPr/>
        </p:nvSpPr>
        <p:spPr>
          <a:xfrm>
            <a:off x="365760" y="960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SCHEMATIC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0"/>
          <p:cNvSpPr/>
          <p:nvPr/>
        </p:nvSpPr>
        <p:spPr>
          <a:xfrm>
            <a:off x="8412480" y="1463040"/>
            <a:ext cx="3474720" cy="4754880"/>
          </a:xfrm>
          <a:prstGeom prst="roundRect">
            <a:avLst>
              <a:gd fmla="val 157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0"/>
          <p:cNvSpPr/>
          <p:nvPr/>
        </p:nvSpPr>
        <p:spPr>
          <a:xfrm>
            <a:off x="8595360" y="16002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2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Function &amp; Notes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2" name="Google Shape;332;p20"/>
          <p:cNvCxnSpPr/>
          <p:nvPr/>
        </p:nvCxnSpPr>
        <p:spPr>
          <a:xfrm>
            <a:off x="8595360" y="1920240"/>
            <a:ext cx="3108960" cy="0"/>
          </a:xfrm>
          <a:prstGeom prst="straightConnector1">
            <a:avLst/>
          </a:prstGeom>
          <a:noFill/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3" name="Google Shape;333;p20"/>
          <p:cNvSpPr/>
          <p:nvPr/>
        </p:nvSpPr>
        <p:spPr>
          <a:xfrm>
            <a:off x="8595360" y="2011680"/>
            <a:ext cx="3108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b="0" i="0" lang="en-US" sz="2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Three cascaded 2-input XOR gates.</a:t>
            </a:r>
            <a:br>
              <a:rPr b="0" i="0" lang="en-US" sz="2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XOR-1: MUX output ⊕ LFSR-1 output.</a:t>
            </a:r>
            <a:br>
              <a:rPr b="0" i="0" lang="en-US" sz="2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XOR-2: result ⊕ LFSR-2 output.</a:t>
            </a:r>
            <a:br>
              <a:rPr b="0" i="0" lang="en-US" sz="2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23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XOR-3: combines previous XOR result with feedback data to generate the encrypted serial output bit.</a:t>
            </a:r>
            <a:br>
              <a:rPr b="0" i="0" lang="en-US" sz="2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0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VLSI Project — Pseudo-Random Stream Scrambler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0"/>
          <p:cNvSpPr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18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6" name="Google Shape;33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32560"/>
            <a:ext cx="8107681" cy="4427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1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1"/>
          <p:cNvSpPr/>
          <p:nvPr/>
        </p:nvSpPr>
        <p:spPr>
          <a:xfrm>
            <a:off x="365760" y="109728"/>
            <a:ext cx="11430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DATAPATH · stream-cipher 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1"/>
          <p:cNvSpPr/>
          <p:nvPr/>
        </p:nvSpPr>
        <p:spPr>
          <a:xfrm>
            <a:off x="365760" y="365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XOR Scrambler (3 gates) — Magic Layout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1"/>
          <p:cNvSpPr/>
          <p:nvPr/>
        </p:nvSpPr>
        <p:spPr>
          <a:xfrm>
            <a:off x="365760" y="960120"/>
            <a:ext cx="1828800" cy="320040"/>
          </a:xfrm>
          <a:prstGeom prst="roundRect">
            <a:avLst>
              <a:gd fmla="val 14286" name="adj"/>
            </a:avLst>
          </a:prstGeom>
          <a:solidFill>
            <a:srgbClr val="047857"/>
          </a:solidFill>
          <a:ln cap="flat" cmpd="sng" w="12700">
            <a:solidFill>
              <a:srgbClr val="047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1"/>
          <p:cNvSpPr/>
          <p:nvPr/>
        </p:nvSpPr>
        <p:spPr>
          <a:xfrm>
            <a:off x="365760" y="960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LAYOUT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1"/>
          <p:cNvSpPr/>
          <p:nvPr/>
        </p:nvSpPr>
        <p:spPr>
          <a:xfrm>
            <a:off x="8412480" y="1463040"/>
            <a:ext cx="3474720" cy="4754880"/>
          </a:xfrm>
          <a:prstGeom prst="roundRect">
            <a:avLst>
              <a:gd fmla="val 157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1"/>
          <p:cNvSpPr/>
          <p:nvPr/>
        </p:nvSpPr>
        <p:spPr>
          <a:xfrm>
            <a:off x="8595360" y="16002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2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Layout Notes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0" name="Google Shape;350;p21"/>
          <p:cNvCxnSpPr/>
          <p:nvPr/>
        </p:nvCxnSpPr>
        <p:spPr>
          <a:xfrm>
            <a:off x="8595360" y="1920240"/>
            <a:ext cx="3108960" cy="0"/>
          </a:xfrm>
          <a:prstGeom prst="straightConnector1">
            <a:avLst/>
          </a:prstGeom>
          <a:noFill/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1" name="Google Shape;351;p21"/>
          <p:cNvSpPr/>
          <p:nvPr/>
        </p:nvSpPr>
        <p:spPr>
          <a:xfrm>
            <a:off x="8595360" y="2011680"/>
            <a:ext cx="3108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Calibri"/>
              <a:buChar char="●"/>
            </a:pPr>
            <a:r>
              <a:rPr b="0" i="0" lang="en-US" sz="17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Layout implements three cascaded XOR stages for stream scrambling.</a:t>
            </a:r>
            <a:endParaRPr sz="17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Calibri"/>
              <a:buChar char="●"/>
            </a:pPr>
            <a:r>
              <a:rPr b="0" i="0" lang="en-US" sz="17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Metal routing connects MUX output and both LFSR outputs into the XOR network.</a:t>
            </a:r>
            <a:endParaRPr sz="17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Calibri"/>
              <a:buChar char="●"/>
            </a:pPr>
            <a:r>
              <a:rPr b="0" i="0" lang="en-US" sz="17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Compact transistor placement minimizes delay between XOR stages.</a:t>
            </a:r>
            <a:endParaRPr sz="17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Calibri"/>
              <a:buChar char="●"/>
            </a:pPr>
            <a:r>
              <a:rPr b="0" i="0" lang="en-US" sz="17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Shared routing paths synchronize encrypted bit generation.</a:t>
            </a:r>
            <a:endParaRPr sz="17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Calibri"/>
              <a:buChar char="●"/>
            </a:pPr>
            <a:r>
              <a:rPr b="0" i="0" lang="en-US" sz="17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Final layout produces serialized scrambled output for transmission.</a:t>
            </a:r>
            <a:endParaRPr b="0" i="0" sz="17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br>
              <a:rPr b="0" i="0" lang="en-US" sz="17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1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VLSI Project — Pseudo-Random Stream Scrambler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1"/>
          <p:cNvSpPr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19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4" name="Google Shape;35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46975"/>
            <a:ext cx="8111499" cy="56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2"/>
          <p:cNvSpPr/>
          <p:nvPr/>
        </p:nvSpPr>
        <p:spPr>
          <a:xfrm>
            <a:off x="365760" y="109728"/>
            <a:ext cx="11430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DATAPATH · stream-cipher 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2"/>
          <p:cNvSpPr/>
          <p:nvPr/>
        </p:nvSpPr>
        <p:spPr>
          <a:xfrm>
            <a:off x="365760" y="365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XOR Scrambler (3 gates) — Simulation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2"/>
          <p:cNvSpPr/>
          <p:nvPr/>
        </p:nvSpPr>
        <p:spPr>
          <a:xfrm>
            <a:off x="365760" y="960120"/>
            <a:ext cx="1828800" cy="320040"/>
          </a:xfrm>
          <a:prstGeom prst="roundRect">
            <a:avLst>
              <a:gd fmla="val 14286" name="adj"/>
            </a:avLst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2"/>
          <p:cNvSpPr/>
          <p:nvPr/>
        </p:nvSpPr>
        <p:spPr>
          <a:xfrm>
            <a:off x="365760" y="960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SIMULATION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2"/>
          <p:cNvSpPr/>
          <p:nvPr/>
        </p:nvSpPr>
        <p:spPr>
          <a:xfrm>
            <a:off x="8412480" y="1463040"/>
            <a:ext cx="3474720" cy="4754880"/>
          </a:xfrm>
          <a:prstGeom prst="roundRect">
            <a:avLst>
              <a:gd fmla="val 157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2"/>
          <p:cNvSpPr/>
          <p:nvPr/>
        </p:nvSpPr>
        <p:spPr>
          <a:xfrm>
            <a:off x="8595360" y="16002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Simulation Notes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8" name="Google Shape;368;p22"/>
          <p:cNvCxnSpPr/>
          <p:nvPr/>
        </p:nvCxnSpPr>
        <p:spPr>
          <a:xfrm>
            <a:off x="8595360" y="1920240"/>
            <a:ext cx="3108960" cy="0"/>
          </a:xfrm>
          <a:prstGeom prst="straightConnector1">
            <a:avLst/>
          </a:prstGeom>
          <a:noFill/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9" name="Google Shape;369;p22"/>
          <p:cNvSpPr/>
          <p:nvPr/>
        </p:nvSpPr>
        <p:spPr>
          <a:xfrm>
            <a:off x="8595360" y="2011680"/>
            <a:ext cx="3108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Waveforms show interaction between MUX output and both LFSR keystreams.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SCRAMB_OUT changes whenever XOR input combinations change.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XOR stages combine serial data with pseudo-random keystream bits.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Simulation confirms synchronized encrypted output generation.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Output waveform demonstrates successful stream scrambling operation.</a:t>
            </a:r>
            <a:br>
              <a:rPr b="0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2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VLSI Project — Pseudo-Random Stream Scrambler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2"/>
          <p:cNvSpPr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2" name="Google Shape;37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344" y="1828988"/>
            <a:ext cx="7809181" cy="3691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3"/>
          <p:cNvSpPr/>
          <p:nvPr/>
        </p:nvSpPr>
        <p:spPr>
          <a:xfrm>
            <a:off x="365760" y="109728"/>
            <a:ext cx="11430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DATAPATH · serial-to-parallel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3"/>
          <p:cNvSpPr/>
          <p:nvPr/>
        </p:nvSpPr>
        <p:spPr>
          <a:xfrm>
            <a:off x="365760" y="365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Shift Register (5-bit) — Schematic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3"/>
          <p:cNvSpPr/>
          <p:nvPr/>
        </p:nvSpPr>
        <p:spPr>
          <a:xfrm>
            <a:off x="365760" y="960120"/>
            <a:ext cx="1828800" cy="320040"/>
          </a:xfrm>
          <a:prstGeom prst="roundRect">
            <a:avLst>
              <a:gd fmla="val 14286" name="adj"/>
            </a:avLst>
          </a:prstGeom>
          <a:solidFill>
            <a:srgbClr val="1E40AF"/>
          </a:solidFill>
          <a:ln cap="flat" cmpd="sng" w="12700">
            <a:solidFill>
              <a:srgbClr val="1E40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3"/>
          <p:cNvSpPr/>
          <p:nvPr/>
        </p:nvSpPr>
        <p:spPr>
          <a:xfrm>
            <a:off x="365760" y="960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SCHEMATIC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3"/>
          <p:cNvSpPr/>
          <p:nvPr/>
        </p:nvSpPr>
        <p:spPr>
          <a:xfrm>
            <a:off x="8412480" y="1463040"/>
            <a:ext cx="3474720" cy="4754880"/>
          </a:xfrm>
          <a:prstGeom prst="roundRect">
            <a:avLst>
              <a:gd fmla="val 157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3"/>
          <p:cNvSpPr/>
          <p:nvPr/>
        </p:nvSpPr>
        <p:spPr>
          <a:xfrm>
            <a:off x="8595360" y="16002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2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Function &amp; Notes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6" name="Google Shape;386;p23"/>
          <p:cNvCxnSpPr/>
          <p:nvPr/>
        </p:nvCxnSpPr>
        <p:spPr>
          <a:xfrm>
            <a:off x="8595360" y="1920240"/>
            <a:ext cx="3108960" cy="0"/>
          </a:xfrm>
          <a:prstGeom prst="straightConnector1">
            <a:avLst/>
          </a:prstGeom>
          <a:noFill/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7" name="Google Shape;387;p23"/>
          <p:cNvSpPr/>
          <p:nvPr/>
        </p:nvSpPr>
        <p:spPr>
          <a:xfrm>
            <a:off x="8595360" y="2011680"/>
            <a:ext cx="3108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Char char="●"/>
            </a:pPr>
            <a:r>
              <a:rPr lang="en-US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Serial input SI receives the scrambled serial bit stream.</a:t>
            </a:r>
            <a:endParaRPr sz="20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Char char="●"/>
            </a:pPr>
            <a:r>
              <a:rPr lang="en-US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Five cascaded D flip-flop stages generate parallel outputs Q0–Q4.</a:t>
            </a:r>
            <a:endParaRPr sz="20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Char char="●"/>
            </a:pPr>
            <a:r>
              <a:rPr lang="en-US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Captures one complete 5-bit encoded symbol after five clock cycles.</a:t>
            </a:r>
            <a:endParaRPr sz="20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●"/>
            </a:pPr>
            <a:r>
              <a:rPr lang="en-US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Parallel outputs are forwarded to the decoder input lines.</a:t>
            </a:r>
            <a:br>
              <a:rPr b="0" i="0" lang="en-US" sz="1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3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VLSI Project — Pseudo-Random Stream Scrambler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3"/>
          <p:cNvSpPr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21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0" name="Google Shape;39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50" y="1432550"/>
            <a:ext cx="7586725" cy="273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5338" y="4109213"/>
            <a:ext cx="130492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4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4"/>
          <p:cNvSpPr/>
          <p:nvPr/>
        </p:nvSpPr>
        <p:spPr>
          <a:xfrm>
            <a:off x="365760" y="109728"/>
            <a:ext cx="11430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DATAPATH · serial-to-parallel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4"/>
          <p:cNvSpPr/>
          <p:nvPr/>
        </p:nvSpPr>
        <p:spPr>
          <a:xfrm>
            <a:off x="365760" y="365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Shift Register (5-bit) — Magic Layout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4"/>
          <p:cNvSpPr/>
          <p:nvPr/>
        </p:nvSpPr>
        <p:spPr>
          <a:xfrm>
            <a:off x="365760" y="960120"/>
            <a:ext cx="1828800" cy="320040"/>
          </a:xfrm>
          <a:prstGeom prst="roundRect">
            <a:avLst>
              <a:gd fmla="val 14286" name="adj"/>
            </a:avLst>
          </a:prstGeom>
          <a:solidFill>
            <a:srgbClr val="047857"/>
          </a:solidFill>
          <a:ln cap="flat" cmpd="sng" w="12700">
            <a:solidFill>
              <a:srgbClr val="047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4"/>
          <p:cNvSpPr/>
          <p:nvPr/>
        </p:nvSpPr>
        <p:spPr>
          <a:xfrm>
            <a:off x="365760" y="960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LAYOUT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4"/>
          <p:cNvSpPr/>
          <p:nvPr/>
        </p:nvSpPr>
        <p:spPr>
          <a:xfrm>
            <a:off x="8412480" y="1463040"/>
            <a:ext cx="3474720" cy="4754880"/>
          </a:xfrm>
          <a:prstGeom prst="roundRect">
            <a:avLst>
              <a:gd fmla="val 157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4"/>
          <p:cNvSpPr/>
          <p:nvPr/>
        </p:nvSpPr>
        <p:spPr>
          <a:xfrm>
            <a:off x="8595360" y="16002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Layout Notes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5" name="Google Shape;405;p24"/>
          <p:cNvCxnSpPr/>
          <p:nvPr/>
        </p:nvCxnSpPr>
        <p:spPr>
          <a:xfrm>
            <a:off x="8595360" y="1920240"/>
            <a:ext cx="3108960" cy="0"/>
          </a:xfrm>
          <a:prstGeom prst="straightConnector1">
            <a:avLst/>
          </a:prstGeom>
          <a:noFill/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6" name="Google Shape;406;p24"/>
          <p:cNvSpPr/>
          <p:nvPr/>
        </p:nvSpPr>
        <p:spPr>
          <a:xfrm>
            <a:off x="8595360" y="2011680"/>
            <a:ext cx="3108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Calibri"/>
              <a:buChar char="●"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Layout implements five cascaded D flip-flop stages for serial-to-parallel conversion.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Calibri"/>
              <a:buChar char="●"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Shared CLK routing synchronizes data shifting across all register stages.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Calibri"/>
              <a:buChar char="●"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Metal interconnect propagates serial data sequentially through each flip-flop.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Calibri"/>
              <a:buChar char="●"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Parallel output taps expose reconstructed 5-bit encoded data.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Calibri"/>
              <a:buChar char="●"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Compact layout organization minimizes routing complexity and propagation delay.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4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VLSI Project — Pseudo-Random Stream Scrambler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4"/>
          <p:cNvSpPr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22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9" name="Google Shape;4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050" y="1808732"/>
            <a:ext cx="8107676" cy="419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5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5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5"/>
          <p:cNvSpPr/>
          <p:nvPr/>
        </p:nvSpPr>
        <p:spPr>
          <a:xfrm>
            <a:off x="365760" y="109728"/>
            <a:ext cx="11430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DATAPATH · serial-to-parallel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5"/>
          <p:cNvSpPr/>
          <p:nvPr/>
        </p:nvSpPr>
        <p:spPr>
          <a:xfrm>
            <a:off x="365760" y="365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Shift Register (5-bit) — Simulation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5"/>
          <p:cNvSpPr/>
          <p:nvPr/>
        </p:nvSpPr>
        <p:spPr>
          <a:xfrm>
            <a:off x="365760" y="960120"/>
            <a:ext cx="1828800" cy="320040"/>
          </a:xfrm>
          <a:prstGeom prst="roundRect">
            <a:avLst>
              <a:gd fmla="val 14286" name="adj"/>
            </a:avLst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5"/>
          <p:cNvSpPr/>
          <p:nvPr/>
        </p:nvSpPr>
        <p:spPr>
          <a:xfrm>
            <a:off x="365760" y="960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SIMULATION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5"/>
          <p:cNvSpPr/>
          <p:nvPr/>
        </p:nvSpPr>
        <p:spPr>
          <a:xfrm>
            <a:off x="8412480" y="1463040"/>
            <a:ext cx="3474720" cy="4754880"/>
          </a:xfrm>
          <a:prstGeom prst="roundRect">
            <a:avLst>
              <a:gd fmla="val 157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5"/>
          <p:cNvSpPr/>
          <p:nvPr/>
        </p:nvSpPr>
        <p:spPr>
          <a:xfrm>
            <a:off x="8595360" y="16002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Simulation Notes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3" name="Google Shape;423;p25"/>
          <p:cNvCxnSpPr/>
          <p:nvPr/>
        </p:nvCxnSpPr>
        <p:spPr>
          <a:xfrm>
            <a:off x="8595360" y="1920240"/>
            <a:ext cx="3108960" cy="0"/>
          </a:xfrm>
          <a:prstGeom prst="straightConnector1">
            <a:avLst/>
          </a:prstGeom>
          <a:noFill/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4" name="Google Shape;424;p25"/>
          <p:cNvSpPr/>
          <p:nvPr/>
        </p:nvSpPr>
        <p:spPr>
          <a:xfrm>
            <a:off x="8595350" y="2011674"/>
            <a:ext cx="3108900" cy="45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Pulse 1: Serial input SI = 0 enters Q0.</a:t>
            </a:r>
            <a:endParaRPr sz="18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Pulse 2: SI changes to 1. Previous data shifts from Q0 to Q1.</a:t>
            </a:r>
            <a:endParaRPr sz="18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Pulse 3: Data continues shifting through Q2 while new input enters Q0.</a:t>
            </a:r>
            <a:endParaRPr sz="18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Pulse 4: Stored bits propagate through the register stages.</a:t>
            </a:r>
            <a:endParaRPr sz="18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Pulse 5: Final shifted data reaches output stage Q4.</a:t>
            </a:r>
            <a:b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5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VLSI Project — </a:t>
            </a:r>
            <a:r>
              <a:rPr i="1"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Shift Register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5"/>
          <p:cNvSpPr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23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7" name="Google Shape;42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62075"/>
            <a:ext cx="8266849" cy="243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6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6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6"/>
          <p:cNvSpPr/>
          <p:nvPr/>
        </p:nvSpPr>
        <p:spPr>
          <a:xfrm>
            <a:off x="365760" y="109728"/>
            <a:ext cx="11430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DATAPATH · output-side decoder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6"/>
          <p:cNvSpPr/>
          <p:nvPr/>
        </p:nvSpPr>
        <p:spPr>
          <a:xfrm>
            <a:off x="365760" y="365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Decoder (5 → 4) — Schematic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6"/>
          <p:cNvSpPr/>
          <p:nvPr/>
        </p:nvSpPr>
        <p:spPr>
          <a:xfrm>
            <a:off x="365760" y="960120"/>
            <a:ext cx="1828800" cy="320040"/>
          </a:xfrm>
          <a:prstGeom prst="roundRect">
            <a:avLst>
              <a:gd fmla="val 14286" name="adj"/>
            </a:avLst>
          </a:prstGeom>
          <a:solidFill>
            <a:srgbClr val="1E40AF"/>
          </a:solidFill>
          <a:ln cap="flat" cmpd="sng" w="12700">
            <a:solidFill>
              <a:srgbClr val="1E40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6"/>
          <p:cNvSpPr/>
          <p:nvPr/>
        </p:nvSpPr>
        <p:spPr>
          <a:xfrm>
            <a:off x="365760" y="960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SCHEMATIC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6"/>
          <p:cNvSpPr/>
          <p:nvPr/>
        </p:nvSpPr>
        <p:spPr>
          <a:xfrm>
            <a:off x="8412480" y="1463040"/>
            <a:ext cx="3474720" cy="4754880"/>
          </a:xfrm>
          <a:prstGeom prst="roundRect">
            <a:avLst>
              <a:gd fmla="val 157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6"/>
          <p:cNvSpPr/>
          <p:nvPr/>
        </p:nvSpPr>
        <p:spPr>
          <a:xfrm>
            <a:off x="8595360" y="16002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Function &amp; Notes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1" name="Google Shape;441;p26"/>
          <p:cNvCxnSpPr/>
          <p:nvPr/>
        </p:nvCxnSpPr>
        <p:spPr>
          <a:xfrm>
            <a:off x="8595360" y="1920240"/>
            <a:ext cx="3108960" cy="0"/>
          </a:xfrm>
          <a:prstGeom prst="straightConnector1">
            <a:avLst/>
          </a:prstGeom>
          <a:noFill/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2" name="Google Shape;442;p26"/>
          <p:cNvSpPr/>
          <p:nvPr/>
        </p:nvSpPr>
        <p:spPr>
          <a:xfrm>
            <a:off x="8595360" y="2011680"/>
            <a:ext cx="3108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Char char="●"/>
            </a:pPr>
            <a:r>
              <a:rPr lang="en-US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Converts the 5-bit shift register output into 4-bit decoded data.</a:t>
            </a:r>
            <a:endParaRPr sz="20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Char char="●"/>
            </a:pPr>
            <a:r>
              <a:rPr lang="en-US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Outputs F, G, H, and I drive the indicator LEDs.</a:t>
            </a:r>
            <a:endParaRPr sz="20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Char char="●"/>
            </a:pPr>
            <a:r>
              <a:rPr lang="en-US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Reconstructs the original 4-bit data from the encoded stream.</a:t>
            </a:r>
            <a:endParaRPr sz="20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Char char="●"/>
            </a:pPr>
            <a:r>
              <a:rPr lang="en-US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mplemented</a:t>
            </a:r>
            <a:r>
              <a:rPr lang="en-US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using combinational logic gates.</a:t>
            </a:r>
            <a:br>
              <a:rPr b="0" i="0" lang="en-US" sz="1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6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VLSI Project — Pseudo-Random Stream Scrambler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6"/>
          <p:cNvSpPr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24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5" name="Google Shape;44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5624" y="1527499"/>
            <a:ext cx="3787100" cy="4881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7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7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7"/>
          <p:cNvSpPr/>
          <p:nvPr/>
        </p:nvSpPr>
        <p:spPr>
          <a:xfrm>
            <a:off x="365760" y="109728"/>
            <a:ext cx="11430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DATAPATH · output-side decoder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7"/>
          <p:cNvSpPr/>
          <p:nvPr/>
        </p:nvSpPr>
        <p:spPr>
          <a:xfrm>
            <a:off x="365760" y="365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Decoder (5 → 4) — Magic Layout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7"/>
          <p:cNvSpPr/>
          <p:nvPr/>
        </p:nvSpPr>
        <p:spPr>
          <a:xfrm>
            <a:off x="365760" y="960120"/>
            <a:ext cx="1828800" cy="320040"/>
          </a:xfrm>
          <a:prstGeom prst="roundRect">
            <a:avLst>
              <a:gd fmla="val 14286" name="adj"/>
            </a:avLst>
          </a:prstGeom>
          <a:solidFill>
            <a:srgbClr val="047857"/>
          </a:solidFill>
          <a:ln cap="flat" cmpd="sng" w="12700">
            <a:solidFill>
              <a:srgbClr val="047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7"/>
          <p:cNvSpPr/>
          <p:nvPr/>
        </p:nvSpPr>
        <p:spPr>
          <a:xfrm>
            <a:off x="365760" y="960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LAYOUT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7"/>
          <p:cNvSpPr/>
          <p:nvPr/>
        </p:nvSpPr>
        <p:spPr>
          <a:xfrm>
            <a:off x="8412480" y="1463040"/>
            <a:ext cx="3474720" cy="4754880"/>
          </a:xfrm>
          <a:prstGeom prst="roundRect">
            <a:avLst>
              <a:gd fmla="val 157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7"/>
          <p:cNvSpPr/>
          <p:nvPr/>
        </p:nvSpPr>
        <p:spPr>
          <a:xfrm>
            <a:off x="8595360" y="16002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Layout Notes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9" name="Google Shape;459;p27"/>
          <p:cNvCxnSpPr/>
          <p:nvPr/>
        </p:nvCxnSpPr>
        <p:spPr>
          <a:xfrm>
            <a:off x="8595360" y="1920240"/>
            <a:ext cx="3108960" cy="0"/>
          </a:xfrm>
          <a:prstGeom prst="straightConnector1">
            <a:avLst/>
          </a:prstGeom>
          <a:noFill/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0" name="Google Shape;460;p27"/>
          <p:cNvSpPr/>
          <p:nvPr/>
        </p:nvSpPr>
        <p:spPr>
          <a:xfrm>
            <a:off x="8595360" y="2011680"/>
            <a:ext cx="3108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Calibri"/>
              <a:buChar char="●"/>
            </a:pPr>
            <a:r>
              <a:rPr lang="en-US" sz="17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Decoder layout implements the 5B/4B combinational decoding network.</a:t>
            </a:r>
            <a:endParaRPr sz="17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Calibri"/>
              <a:buChar char="●"/>
            </a:pPr>
            <a:r>
              <a:rPr lang="en-US" sz="17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PMOS and NMOS transistor paths generate outputs F, G, H, and I.</a:t>
            </a:r>
            <a:endParaRPr sz="17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Calibri"/>
              <a:buChar char="●"/>
            </a:pPr>
            <a:r>
              <a:rPr lang="en-US" sz="17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Metal routing distributes shift register outputs to decoding logic gates.</a:t>
            </a:r>
            <a:endParaRPr sz="17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Calibri"/>
              <a:buChar char="●"/>
            </a:pPr>
            <a:r>
              <a:rPr lang="en-US" sz="17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Hierarchical layout organization simplifies decoder signal routing.</a:t>
            </a:r>
            <a:endParaRPr sz="17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Calibri"/>
              <a:buChar char="●"/>
            </a:pPr>
            <a:r>
              <a:rPr lang="en-US" sz="17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Layout verified through Magic VLSI implementation and simulation.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7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VLSI Project — </a:t>
            </a:r>
            <a:r>
              <a:rPr i="1"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Decoder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7"/>
          <p:cNvSpPr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25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3" name="Google Shape;46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000" y="2737035"/>
            <a:ext cx="8107680" cy="2664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8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8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8"/>
          <p:cNvSpPr/>
          <p:nvPr/>
        </p:nvSpPr>
        <p:spPr>
          <a:xfrm>
            <a:off x="365760" y="109728"/>
            <a:ext cx="11430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DATAPATH · output-side decoder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8"/>
          <p:cNvSpPr/>
          <p:nvPr/>
        </p:nvSpPr>
        <p:spPr>
          <a:xfrm>
            <a:off x="365760" y="365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Decoder (5 → 4) — Simulation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8"/>
          <p:cNvSpPr/>
          <p:nvPr/>
        </p:nvSpPr>
        <p:spPr>
          <a:xfrm>
            <a:off x="365760" y="960120"/>
            <a:ext cx="1828800" cy="320040"/>
          </a:xfrm>
          <a:prstGeom prst="roundRect">
            <a:avLst>
              <a:gd fmla="val 14286" name="adj"/>
            </a:avLst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8"/>
          <p:cNvSpPr/>
          <p:nvPr/>
        </p:nvSpPr>
        <p:spPr>
          <a:xfrm>
            <a:off x="365760" y="960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SIMULATION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8"/>
          <p:cNvSpPr/>
          <p:nvPr/>
        </p:nvSpPr>
        <p:spPr>
          <a:xfrm>
            <a:off x="8412480" y="1463040"/>
            <a:ext cx="3474720" cy="4754880"/>
          </a:xfrm>
          <a:prstGeom prst="roundRect">
            <a:avLst>
              <a:gd fmla="val 157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8"/>
          <p:cNvSpPr/>
          <p:nvPr/>
        </p:nvSpPr>
        <p:spPr>
          <a:xfrm>
            <a:off x="8595360" y="16002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Simulation Notes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7" name="Google Shape;477;p28"/>
          <p:cNvCxnSpPr/>
          <p:nvPr/>
        </p:nvCxnSpPr>
        <p:spPr>
          <a:xfrm>
            <a:off x="8595360" y="1920240"/>
            <a:ext cx="3108960" cy="0"/>
          </a:xfrm>
          <a:prstGeom prst="straightConnector1">
            <a:avLst/>
          </a:prstGeom>
          <a:noFill/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8" name="Google Shape;478;p28"/>
          <p:cNvSpPr/>
          <p:nvPr/>
        </p:nvSpPr>
        <p:spPr>
          <a:xfrm>
            <a:off x="8595350" y="2011675"/>
            <a:ext cx="3108900" cy="42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Simulation verifies correct 5B/4B decoding behavior.</a:t>
            </a:r>
            <a:endParaRPr sz="17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Inputs A–E apply encoded 5-bit patterns from the shift register.</a:t>
            </a:r>
            <a:endParaRPr sz="17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Outputs F, G, H, and E_I reconstruct the original 4-bit data.</a:t>
            </a:r>
            <a:endParaRPr sz="17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Waveforms confirm correct decoder output transitions for each test case.</a:t>
            </a:r>
            <a:endParaRPr sz="17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Decoder functionality verified using IRSIM waveform analysis.</a:t>
            </a:r>
            <a:br>
              <a:rPr b="0" i="0" lang="en-US" sz="17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8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VLSI Project — Pseudo-Random Stream Scrambler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8"/>
          <p:cNvSpPr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26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1" name="Google Shape;48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600" y="2341560"/>
            <a:ext cx="8107681" cy="3307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9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9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9"/>
          <p:cNvSpPr/>
          <p:nvPr/>
        </p:nvSpPr>
        <p:spPr>
          <a:xfrm>
            <a:off x="365760" y="109728"/>
            <a:ext cx="11430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FULL CIRCUIT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9"/>
          <p:cNvSpPr/>
          <p:nvPr/>
        </p:nvSpPr>
        <p:spPr>
          <a:xfrm>
            <a:off x="365760" y="365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Top-Level Integration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9"/>
          <p:cNvSpPr/>
          <p:nvPr/>
        </p:nvSpPr>
        <p:spPr>
          <a:xfrm>
            <a:off x="365760" y="960120"/>
            <a:ext cx="1828800" cy="320040"/>
          </a:xfrm>
          <a:prstGeom prst="roundRect">
            <a:avLst>
              <a:gd fmla="val 14286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9"/>
          <p:cNvSpPr/>
          <p:nvPr/>
        </p:nvSpPr>
        <p:spPr>
          <a:xfrm>
            <a:off x="365760" y="960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9"/>
          <p:cNvSpPr/>
          <p:nvPr/>
        </p:nvSpPr>
        <p:spPr>
          <a:xfrm>
            <a:off x="8412480" y="1463040"/>
            <a:ext cx="3474720" cy="4754880"/>
          </a:xfrm>
          <a:prstGeom prst="roundRect">
            <a:avLst>
              <a:gd fmla="val 157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9"/>
          <p:cNvSpPr/>
          <p:nvPr/>
        </p:nvSpPr>
        <p:spPr>
          <a:xfrm>
            <a:off x="8595360" y="16002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Integration Notes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5" name="Google Shape;495;p29"/>
          <p:cNvCxnSpPr/>
          <p:nvPr/>
        </p:nvCxnSpPr>
        <p:spPr>
          <a:xfrm>
            <a:off x="8595360" y="1920240"/>
            <a:ext cx="3108960" cy="0"/>
          </a:xfrm>
          <a:prstGeom prst="straightConnector1">
            <a:avLst/>
          </a:prstGeom>
          <a:noFill/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6" name="Google Shape;496;p29"/>
          <p:cNvSpPr/>
          <p:nvPr/>
        </p:nvSpPr>
        <p:spPr>
          <a:xfrm>
            <a:off x="8595360" y="2011680"/>
            <a:ext cx="3108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All functional blocks operate under a shared clock domain.</a:t>
            </a:r>
            <a:endParaRPr sz="17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Encoder, Counter, and MUX form the transmit-side datapath.</a:t>
            </a:r>
            <a:endParaRPr sz="17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Dual LFSRs and XOR gates implement the scrambling stage.</a:t>
            </a:r>
            <a:endParaRPr sz="17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Shift Register and Decoder reconstruct the received data stream.</a:t>
            </a:r>
            <a:endParaRPr sz="17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Full-system integration verified through schematic simulation and testing.</a:t>
            </a:r>
            <a:endParaRPr sz="17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br>
              <a:rPr b="0" i="0" lang="en-US" sz="7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9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VLSI Project — </a:t>
            </a:r>
            <a:r>
              <a:rPr i="1"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Final Schematic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9"/>
          <p:cNvSpPr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27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9" name="Google Shape;49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74875"/>
            <a:ext cx="8103848" cy="419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0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0"/>
          <p:cNvSpPr/>
          <p:nvPr/>
        </p:nvSpPr>
        <p:spPr>
          <a:xfrm>
            <a:off x="365760" y="109728"/>
            <a:ext cx="11430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30"/>
          <p:cNvSpPr/>
          <p:nvPr/>
        </p:nvSpPr>
        <p:spPr>
          <a:xfrm>
            <a:off x="365760" y="365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Top-Level Simulation &amp; Conclusion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0"/>
          <p:cNvSpPr/>
          <p:nvPr/>
        </p:nvSpPr>
        <p:spPr>
          <a:xfrm>
            <a:off x="365760" y="960120"/>
            <a:ext cx="1828800" cy="320040"/>
          </a:xfrm>
          <a:prstGeom prst="roundRect">
            <a:avLst>
              <a:gd fmla="val 14286" name="adj"/>
            </a:avLst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30"/>
          <p:cNvSpPr/>
          <p:nvPr/>
        </p:nvSpPr>
        <p:spPr>
          <a:xfrm>
            <a:off x="365760" y="960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SIMULATION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0"/>
          <p:cNvSpPr/>
          <p:nvPr/>
        </p:nvSpPr>
        <p:spPr>
          <a:xfrm>
            <a:off x="8412480" y="1463040"/>
            <a:ext cx="3474720" cy="4754880"/>
          </a:xfrm>
          <a:prstGeom prst="roundRect">
            <a:avLst>
              <a:gd fmla="val 157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0"/>
          <p:cNvSpPr/>
          <p:nvPr/>
        </p:nvSpPr>
        <p:spPr>
          <a:xfrm>
            <a:off x="8595360" y="16002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3" name="Google Shape;513;p30"/>
          <p:cNvCxnSpPr/>
          <p:nvPr/>
        </p:nvCxnSpPr>
        <p:spPr>
          <a:xfrm>
            <a:off x="8595360" y="1920240"/>
            <a:ext cx="3108960" cy="0"/>
          </a:xfrm>
          <a:prstGeom prst="straightConnector1">
            <a:avLst/>
          </a:prstGeom>
          <a:noFill/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4" name="Google Shape;514;p30"/>
          <p:cNvSpPr/>
          <p:nvPr/>
        </p:nvSpPr>
        <p:spPr>
          <a:xfrm>
            <a:off x="8595350" y="2011674"/>
            <a:ext cx="3108900" cy="48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Encoder, Counter, and MUX successfully serialize the input data stream.</a:t>
            </a:r>
            <a:endParaRPr sz="15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Dual LFSRs generate pseudo-random scrambling sequences.</a:t>
            </a:r>
            <a:endParaRPr sz="15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Cascaded XOR stages scramble the transmitted bit stream.</a:t>
            </a:r>
            <a:endParaRPr sz="15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Shift Register and Decoder recover the original 4-bit output data.</a:t>
            </a:r>
            <a:endParaRPr sz="15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Full-system simulation verified correct functional operation.</a:t>
            </a:r>
            <a:endParaRPr sz="15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Future improvements include wider datapaths, enhanced LFSR structures, and ASIC implementation.</a:t>
            </a:r>
            <a:endParaRPr sz="15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0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VLSI Project — </a:t>
            </a:r>
            <a:r>
              <a:rPr i="1"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Final simulation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0"/>
          <p:cNvSpPr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28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7" name="Google Shape;51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050" y="1600201"/>
            <a:ext cx="8107674" cy="4526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